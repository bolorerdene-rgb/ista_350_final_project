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ileron" panose="020B0604020202020204" charset="0"/>
      <p:regular r:id="rId12"/>
    </p:embeddedFont>
    <p:embeddedFont>
      <p:font typeface="Aileron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926BB4-E2AA-4B6F-923C-5CE67B1F821A}" v="7" dt="2026-04-28T18:35:51.7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42353" autoAdjust="0"/>
  </p:normalViewPr>
  <p:slideViewPr>
    <p:cSldViewPr>
      <p:cViewPr varScale="1">
        <p:scale>
          <a:sx n="30" d="100"/>
          <a:sy n="30" d="100"/>
        </p:scale>
        <p:origin x="2393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lor-Erdene Altanmunkh" userId="8c36a922442bdb47" providerId="LiveId" clId="{C77B30DA-9AF5-4F96-8676-90D9D686A136}"/>
    <pc:docChg chg="modSld">
      <pc:chgData name="Bolor-Erdene Altanmunkh" userId="8c36a922442bdb47" providerId="LiveId" clId="{C77B30DA-9AF5-4F96-8676-90D9D686A136}" dt="2026-04-28T18:35:24.905" v="0" actId="20577"/>
      <pc:docMkLst>
        <pc:docMk/>
      </pc:docMkLst>
      <pc:sldChg chg="modNotesTx">
        <pc:chgData name="Bolor-Erdene Altanmunkh" userId="8c36a922442bdb47" providerId="LiveId" clId="{C77B30DA-9AF5-4F96-8676-90D9D686A136}" dt="2026-04-28T18:35:24.905" v="0" actId="20577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2272E5-E37B-4026-9B0E-D21A18C382A2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EDBB4D-2F9C-4B2C-9526-65C63042BB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7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819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function is responsible for scraping and preparing the dataset from Wikipedia for analysis.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use pandas’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read_html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function to extract all tables from the webpage. Since the data is split across multiple tables, this returns a list.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all tables are relevant, so I filter only those that contain both ‘Automobile’ and ‘Sales’ columns.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tables don’t include the manufacturer or production columns. I handle this by either extracting the manufacturer from the car name or assigning missing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make all tables consistent, I selected only four columns: Manufacturer, Automobile, Production, and Sales.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the data is spread across multiple tables, I merge them into a single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DataFrame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using concatenation.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 apply custom cleaning functions to convert messy text into numeric values, such as extracting total sales and calculating production duration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Finally, I remove rows with missing or invalid sales values to ensure accurate analysis.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2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function is responsible for cleaning the sales data, which is messy because it comes from Wikipedia.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it checks if the value is missing. If it is, it returns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we don’t process invalid data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I convert the value into a string so I can apply text processing using regular expressions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 use a regular expression to extract numbers with commas, like one million written as 1,000,000. This is the preferred format because it represents full values.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match is found, I remove commas and convert the value into an integer so it can be used for analysis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 formatted number is found, I use a simpler pattern to extract any number that appears in the text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 number can be extracted at all, the function returns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591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function calculates how long a car model has been in production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it checks if the value is missing. If so, it returns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avoid errors.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Wikipedia uses different dash symbols 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-dash and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-dash, so I standardize them into a regular dash for consistent processing.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entries use shortened year formats, like 1990 to 05. I reconstruct the full year by combining the century from the start year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Next, I extract all 4-digit years. If there are at least two, I calculate the production duration as the difference between start and end year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car is still in production, I calculate duration using the current year, which I set as 2026.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none of these patterns match, the function returns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323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chart shows the top 10 best-selling automobile models based on total global sales.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Ford F-Series leads by a significant margin, with over 30 million units sold, making it the most successful model in this dataset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see that brands like Ford, Toyota, and Volkswagen dominate the list, indicating strong global market presence and long-term success.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list includes a mix of vehicle types, including trucks like the Ford F-Series, sedans like the Toyota Camry, and compact cars like the Volkswagen Golf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 within the top 10, there is a noticeable range in sales, from around 16 million to over 30 million vehicles, showing varying levels of success among top models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of these models have been in production for decades, which likely contributes to their high cumulative sales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6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chart shows the top 10 manufacturers ranked by average sales per model, rather than total sales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Volkswagen ranks the highest, meaning its individual car models tend to achieve very high sales on average.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Lada and Opel also rank highly, which suggests that even with fewer global models, they have very successful individual vehicles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different from total sales because it focuses on how well each model performs, not how many models a company produces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manufacturers like Ford, GM, and Hyundai appear in the middle range, indicating consistent but not dominant average performance per model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63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scatter plot shows the relationship between how long a car model is produced and its total sales.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see a positive trend, meaning that cars produced for longer periods tend to have higher total sales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R-squared value is about 0.322, which means production duration explains roughly 32% of the variation in sales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p-value is essentially zero, indicating that this relationship is statistically significant and not due to random chance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there is a lot of spread in the data, especially for longer production durations. Some cars perform extremely well, while others do not.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tells us that while longevity contributes to higher sales, it is not the only factor—things like brand strength, design, and market demand also play major roles.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EDBB4D-2F9C-4B2C-9526-65C63042BB9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186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en.wikipedia.org/wiki/List_of_automobile_sales_by_mode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5114860"/>
            <a:ext cx="15742455" cy="270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266"/>
              </a:lnSpc>
            </a:pPr>
            <a:r>
              <a:rPr lang="en-US" sz="20266" b="1" spc="-749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Car sales plot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424241"/>
            <a:ext cx="5689197" cy="612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95"/>
              </a:lnSpc>
            </a:pPr>
            <a:r>
              <a:rPr lang="en-US" sz="4595" spc="-170">
                <a:solidFill>
                  <a:srgbClr val="FFFFFF">
                    <a:alpha val="36863"/>
                  </a:srgbClr>
                </a:solidFill>
                <a:latin typeface="Aileron"/>
                <a:ea typeface="Aileron"/>
                <a:cs typeface="Aileron"/>
                <a:sym typeface="Aileron"/>
              </a:rPr>
              <a:t>ISTA 350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8645042"/>
            <a:ext cx="349002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Presented by :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041546"/>
            <a:ext cx="3490028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Bolor-Erdene Altanmunkh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630245" y="803989"/>
            <a:ext cx="7651394" cy="6035037"/>
          </a:xfrm>
          <a:custGeom>
            <a:avLst/>
            <a:gdLst/>
            <a:ahLst/>
            <a:cxnLst/>
            <a:rect l="l" t="t" r="r" b="b"/>
            <a:pathLst>
              <a:path w="7651394" h="6035037">
                <a:moveTo>
                  <a:pt x="0" y="0"/>
                </a:moveTo>
                <a:lnTo>
                  <a:pt x="7651394" y="0"/>
                </a:lnTo>
                <a:lnTo>
                  <a:pt x="7651394" y="6035037"/>
                </a:lnTo>
                <a:lnTo>
                  <a:pt x="0" y="60350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3048521"/>
            <a:ext cx="6056426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First look at the website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041546"/>
            <a:ext cx="7431550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u="sng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  <a:hlinkClick r:id="rId4" tooltip="https://en.wikipedia.org/wiki/List_of_automobile_sales_by_model"/>
              </a:rPr>
              <a:t>Wikipedia page link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250930"/>
            <a:ext cx="6056426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dataset for this project is collected from Wikipedia by scraping structured tables related to automobile sales. The primary source is a list of automobile sales by model page, which provides information such as car model names, manufacturers, production periods, and total units sold.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61097" y="7314679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Uniqueness of the webpage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61097" y="7984271"/>
            <a:ext cx="5789690" cy="140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Split into multiple tables 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Organized by manufacturer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The “Sales” column is not standardized</a:t>
            </a:r>
          </a:p>
          <a:p>
            <a:pPr marL="431802" lvl="1" indent="-215901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Production years are not uniform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518942" y="1680872"/>
            <a:ext cx="9860574" cy="5694481"/>
          </a:xfrm>
          <a:custGeom>
            <a:avLst/>
            <a:gdLst/>
            <a:ahLst/>
            <a:cxnLst/>
            <a:rect l="l" t="t" r="r" b="b"/>
            <a:pathLst>
              <a:path w="9860574" h="5694481">
                <a:moveTo>
                  <a:pt x="0" y="0"/>
                </a:moveTo>
                <a:lnTo>
                  <a:pt x="9860574" y="0"/>
                </a:lnTo>
                <a:lnTo>
                  <a:pt x="9860574" y="5694481"/>
                </a:lnTo>
                <a:lnTo>
                  <a:pt x="0" y="569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166090" y="2469285"/>
            <a:ext cx="6056426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Scrapping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6090" y="3800330"/>
            <a:ext cx="5414073" cy="352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Scrapes multiple tables from Wikipedia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Filters relevant tables with “Automobile” and “Sales”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Handles missing columns such as Manufacturer and Production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Standardizes table structure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Combines tables into one dataset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Cleans data using custom functions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Removes missing values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531642" y="2536447"/>
            <a:ext cx="10463869" cy="3714673"/>
          </a:xfrm>
          <a:custGeom>
            <a:avLst/>
            <a:gdLst/>
            <a:ahLst/>
            <a:cxnLst/>
            <a:rect l="l" t="t" r="r" b="b"/>
            <a:pathLst>
              <a:path w="10463869" h="3714673">
                <a:moveTo>
                  <a:pt x="0" y="0"/>
                </a:moveTo>
                <a:lnTo>
                  <a:pt x="10463869" y="0"/>
                </a:lnTo>
                <a:lnTo>
                  <a:pt x="10463869" y="3714673"/>
                </a:lnTo>
                <a:lnTo>
                  <a:pt x="0" y="37146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931527"/>
            <a:ext cx="6056426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Clean sales function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064000"/>
            <a:ext cx="5717947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Extracts numeric sales values from messy text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Handles missing values 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Uses regex to find formatted numbers such as 1,000,000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Falls back to simpler number extraction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Converts output into integer format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453718" y="1892391"/>
            <a:ext cx="6833951" cy="6227438"/>
          </a:xfrm>
          <a:custGeom>
            <a:avLst/>
            <a:gdLst/>
            <a:ahLst/>
            <a:cxnLst/>
            <a:rect l="l" t="t" r="r" b="b"/>
            <a:pathLst>
              <a:path w="6833951" h="6227438">
                <a:moveTo>
                  <a:pt x="0" y="0"/>
                </a:moveTo>
                <a:lnTo>
                  <a:pt x="6833951" y="0"/>
                </a:lnTo>
                <a:lnTo>
                  <a:pt x="6833951" y="6227438"/>
                </a:lnTo>
                <a:lnTo>
                  <a:pt x="0" y="6227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2016216"/>
            <a:ext cx="7169754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Clean production year function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385098"/>
            <a:ext cx="6546432" cy="281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Extracts production duration from text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Handles missing values 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Standardizes dash formats 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Supports multiple year formats such as 1990–2000 and 1990–05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Handles “present” cases dynamically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Returns production duration in years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156675" y="2934957"/>
            <a:ext cx="9719156" cy="5673557"/>
          </a:xfrm>
          <a:custGeom>
            <a:avLst/>
            <a:gdLst/>
            <a:ahLst/>
            <a:cxnLst/>
            <a:rect l="l" t="t" r="r" b="b"/>
            <a:pathLst>
              <a:path w="9719156" h="5673557">
                <a:moveTo>
                  <a:pt x="0" y="0"/>
                </a:moveTo>
                <a:lnTo>
                  <a:pt x="9719156" y="0"/>
                </a:lnTo>
                <a:lnTo>
                  <a:pt x="9719156" y="5673557"/>
                </a:lnTo>
                <a:lnTo>
                  <a:pt x="0" y="5673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19573" y="1480845"/>
            <a:ext cx="16031840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Top 10 Best selling automobile models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5363" y="2825297"/>
            <a:ext cx="5789690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Highlights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5363" y="3619047"/>
            <a:ext cx="5789690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Shows top 10 car models by total sales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Ford F-Series is the highest-selling model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Strong presence of Toyota, Volkswagen, and Ford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Mix of trucks, sedans, and compact cars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Sales range from ~16M to ~33M units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540144" y="2650195"/>
            <a:ext cx="9719156" cy="5673557"/>
          </a:xfrm>
          <a:custGeom>
            <a:avLst/>
            <a:gdLst/>
            <a:ahLst/>
            <a:cxnLst/>
            <a:rect l="l" t="t" r="r" b="b"/>
            <a:pathLst>
              <a:path w="9719156" h="5673557">
                <a:moveTo>
                  <a:pt x="0" y="0"/>
                </a:moveTo>
                <a:lnTo>
                  <a:pt x="9719156" y="0"/>
                </a:lnTo>
                <a:lnTo>
                  <a:pt x="9719156" y="5673558"/>
                </a:lnTo>
                <a:lnTo>
                  <a:pt x="0" y="56735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52525"/>
            <a:ext cx="16807162" cy="188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Top 10 Manufacturers by Average sales per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653775"/>
            <a:ext cx="6056426" cy="24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Compares manufacturers by average sales per model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Volkswagen ranks highest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Lada and Opel also perform strongly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Mix of global brands represented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Highlights efficiency, not total volume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11492" y="2681873"/>
            <a:ext cx="8407117" cy="5884982"/>
          </a:xfrm>
          <a:custGeom>
            <a:avLst/>
            <a:gdLst/>
            <a:ahLst/>
            <a:cxnLst/>
            <a:rect l="l" t="t" r="r" b="b"/>
            <a:pathLst>
              <a:path w="8407117" h="5884982">
                <a:moveTo>
                  <a:pt x="0" y="0"/>
                </a:moveTo>
                <a:lnTo>
                  <a:pt x="8407117" y="0"/>
                </a:lnTo>
                <a:lnTo>
                  <a:pt x="8407117" y="5884982"/>
                </a:lnTo>
                <a:lnTo>
                  <a:pt x="0" y="58849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1152525"/>
            <a:ext cx="16807162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Production Duration vs Automobile Sales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3669005"/>
            <a:ext cx="6056426" cy="211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Scatter plot with regression line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Positive relationship between duration and sales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R² = 0.322 indicating moderate correlation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p-value ≈ 0.0000 means statistically significant</a:t>
            </a:r>
          </a:p>
          <a:p>
            <a:pPr marL="431802" lvl="1" indent="-215901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High variability across models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37186" y="4341782"/>
            <a:ext cx="5825797" cy="97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200" b="1" spc="-26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1179</Words>
  <Application>Microsoft Office PowerPoint</Application>
  <PresentationFormat>Custom</PresentationFormat>
  <Paragraphs>100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Aileron Bold</vt:lpstr>
      <vt:lpstr>Calibri</vt:lpstr>
      <vt:lpstr>Aileron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Business Pitch Deck Presentation</dc:title>
  <cp:lastModifiedBy>Bolor-Erdene Altanmunkh</cp:lastModifiedBy>
  <cp:revision>1</cp:revision>
  <dcterms:created xsi:type="dcterms:W3CDTF">2006-08-16T00:00:00Z</dcterms:created>
  <dcterms:modified xsi:type="dcterms:W3CDTF">2026-04-28T18:35:53Z</dcterms:modified>
  <dc:identifier>DAHIIQz3AuY</dc:identifier>
</cp:coreProperties>
</file>